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85" r:id="rId5"/>
    <p:sldId id="286" r:id="rId6"/>
    <p:sldId id="259" r:id="rId7"/>
    <p:sldId id="260" r:id="rId8"/>
    <p:sldId id="261" r:id="rId9"/>
    <p:sldId id="262" r:id="rId10"/>
    <p:sldId id="284" r:id="rId11"/>
    <p:sldId id="264" r:id="rId12"/>
    <p:sldId id="265" r:id="rId13"/>
    <p:sldId id="287" r:id="rId14"/>
    <p:sldId id="269" r:id="rId15"/>
    <p:sldId id="271" r:id="rId16"/>
    <p:sldId id="272" r:id="rId17"/>
    <p:sldId id="288" r:id="rId18"/>
    <p:sldId id="289" r:id="rId19"/>
    <p:sldId id="275" r:id="rId20"/>
    <p:sldId id="290" r:id="rId21"/>
    <p:sldId id="291" r:id="rId22"/>
    <p:sldId id="279" r:id="rId23"/>
    <p:sldId id="280" r:id="rId24"/>
    <p:sldId id="281" r:id="rId25"/>
    <p:sldId id="282" r:id="rId26"/>
    <p:sldId id="292" r:id="rId27"/>
    <p:sldId id="293" r:id="rId28"/>
    <p:sldId id="294" r:id="rId29"/>
    <p:sldId id="283" r:id="rId30"/>
  </p:sldIdLst>
  <p:sldSz cx="9144000" cy="5143500" type="screen16x9"/>
  <p:notesSz cx="6858000" cy="9144000"/>
  <p:embeddedFontLst>
    <p:embeddedFont>
      <p:font typeface="Old Standard TT" panose="020B0604020202020204" charset="0"/>
      <p:regular r:id="rId32"/>
      <p:bold r:id="rId33"/>
      <p: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066" y="3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035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0357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A34BD74B-FC85-FA60-6343-16B15EB5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0357f_0_9:notes">
            <a:extLst>
              <a:ext uri="{FF2B5EF4-FFF2-40B4-BE49-F238E27FC236}">
                <a16:creationId xmlns:a16="http://schemas.microsoft.com/office/drawing/2014/main" id="{B0138C65-2C11-7A93-BE93-7FB77A6DB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0357f_0_9:notes">
            <a:extLst>
              <a:ext uri="{FF2B5EF4-FFF2-40B4-BE49-F238E27FC236}">
                <a16:creationId xmlns:a16="http://schemas.microsoft.com/office/drawing/2014/main" id="{F6EF511E-E3EF-6814-EF0A-E7DDD73B6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663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0D6B51F1-00C6-792B-C785-552EC2777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0357f_0_9:notes">
            <a:extLst>
              <a:ext uri="{FF2B5EF4-FFF2-40B4-BE49-F238E27FC236}">
                <a16:creationId xmlns:a16="http://schemas.microsoft.com/office/drawing/2014/main" id="{5C4F8DAE-F525-03E3-0977-7C525DD62C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0357f_0_9:notes">
            <a:extLst>
              <a:ext uri="{FF2B5EF4-FFF2-40B4-BE49-F238E27FC236}">
                <a16:creationId xmlns:a16="http://schemas.microsoft.com/office/drawing/2014/main" id="{63C474C9-ADAF-E718-9868-84BEDAE0DF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6294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035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035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6f90357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6f90357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222e8c899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222e8c899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222e8c899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222e8c899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45E7A476-DFCD-39A7-1320-5E61329E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222e8c8997_0_10:notes">
            <a:extLst>
              <a:ext uri="{FF2B5EF4-FFF2-40B4-BE49-F238E27FC236}">
                <a16:creationId xmlns:a16="http://schemas.microsoft.com/office/drawing/2014/main" id="{62DA8C95-C6CD-A1EC-F61A-7149EB3784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222e8c8997_0_10:notes">
            <a:extLst>
              <a:ext uri="{FF2B5EF4-FFF2-40B4-BE49-F238E27FC236}">
                <a16:creationId xmlns:a16="http://schemas.microsoft.com/office/drawing/2014/main" id="{C68C6C34-4148-EA98-69CE-CBB102878D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7876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22e8c899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222e8c8997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22e8c899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22e8c899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22e8c8997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22e8c8997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22e8c8997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222e8c8997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22e8c8997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222e8c8997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22e8c8997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222e8c8997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8760AFF8-B0CC-DCE5-AB4F-1ECEB5EF3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22e8c8997_0_227:notes">
            <a:extLst>
              <a:ext uri="{FF2B5EF4-FFF2-40B4-BE49-F238E27FC236}">
                <a16:creationId xmlns:a16="http://schemas.microsoft.com/office/drawing/2014/main" id="{C847ECB5-3AE0-6111-596A-953B75036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222e8c8997_0_227:notes">
            <a:extLst>
              <a:ext uri="{FF2B5EF4-FFF2-40B4-BE49-F238E27FC236}">
                <a16:creationId xmlns:a16="http://schemas.microsoft.com/office/drawing/2014/main" id="{A665BDD7-ADFB-4C96-2A40-E021ADCBF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4456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E70F3EAA-B3AA-8792-7964-82EDB782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22e8c8997_0_227:notes">
            <a:extLst>
              <a:ext uri="{FF2B5EF4-FFF2-40B4-BE49-F238E27FC236}">
                <a16:creationId xmlns:a16="http://schemas.microsoft.com/office/drawing/2014/main" id="{BD7ED29C-4BBD-9B2B-F56F-67478A2FD8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222e8c8997_0_227:notes">
            <a:extLst>
              <a:ext uri="{FF2B5EF4-FFF2-40B4-BE49-F238E27FC236}">
                <a16:creationId xmlns:a16="http://schemas.microsoft.com/office/drawing/2014/main" id="{9DCF1E18-CEE2-227A-6673-0BDD749EE3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86241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22e8c8997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222e8c8997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222e8c8997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222e8c8997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22e8c8997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222e8c8997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222e8c8997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222e8c8997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B6C5AB5A-D7A8-CC11-E473-A6DBD8B96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22e8c8997_0_239:notes">
            <a:extLst>
              <a:ext uri="{FF2B5EF4-FFF2-40B4-BE49-F238E27FC236}">
                <a16:creationId xmlns:a16="http://schemas.microsoft.com/office/drawing/2014/main" id="{61A7F98D-C21C-5E91-14D6-FD863514D9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222e8c8997_0_239:notes">
            <a:extLst>
              <a:ext uri="{FF2B5EF4-FFF2-40B4-BE49-F238E27FC236}">
                <a16:creationId xmlns:a16="http://schemas.microsoft.com/office/drawing/2014/main" id="{5C8B0285-841E-BC4C-FA0C-B3C40419A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16628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8FE87E6E-2E20-27BD-BF1F-F0DBB591A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222e8c8997_0_245:notes">
            <a:extLst>
              <a:ext uri="{FF2B5EF4-FFF2-40B4-BE49-F238E27FC236}">
                <a16:creationId xmlns:a16="http://schemas.microsoft.com/office/drawing/2014/main" id="{336CF9B9-C6B3-EA83-E371-2C2106756E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222e8c8997_0_245:notes">
            <a:extLst>
              <a:ext uri="{FF2B5EF4-FFF2-40B4-BE49-F238E27FC236}">
                <a16:creationId xmlns:a16="http://schemas.microsoft.com/office/drawing/2014/main" id="{09C38AF6-AFB9-28F3-3238-FA7E609B8D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2011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6C864459-0B7F-FAD3-FF1F-197AED5C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222e8c8997_0_245:notes">
            <a:extLst>
              <a:ext uri="{FF2B5EF4-FFF2-40B4-BE49-F238E27FC236}">
                <a16:creationId xmlns:a16="http://schemas.microsoft.com/office/drawing/2014/main" id="{34DB78A9-1019-919D-B0EA-A5D19BC3D0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222e8c8997_0_245:notes">
            <a:extLst>
              <a:ext uri="{FF2B5EF4-FFF2-40B4-BE49-F238E27FC236}">
                <a16:creationId xmlns:a16="http://schemas.microsoft.com/office/drawing/2014/main" id="{EB271BA4-E62D-5535-686F-229AF411A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89241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c6f90357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c6f90357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Osnovi nauke o podacima projekat</a:t>
            </a:r>
            <a:endParaRPr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Mihailo Bo</a:t>
            </a:r>
            <a:r>
              <a:rPr lang="sr-Latn-RS" dirty="0"/>
              <a:t>žinović </a:t>
            </a:r>
            <a:r>
              <a:rPr lang="en" dirty="0"/>
              <a:t>RN </a:t>
            </a:r>
            <a:r>
              <a:rPr lang="sr-Latn-RS" dirty="0"/>
              <a:t>76</a:t>
            </a:r>
            <a:r>
              <a:rPr lang="en" dirty="0"/>
              <a:t>/2</a:t>
            </a:r>
            <a:r>
              <a:rPr lang="sr-Latn-RS" dirty="0"/>
              <a:t>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109650" y="526350"/>
            <a:ext cx="8526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DATA SET: </a:t>
            </a:r>
            <a:r>
              <a:rPr lang="sr-Latn-RS" sz="2500" dirty="0"/>
              <a:t>AirQuality</a:t>
            </a:r>
            <a:r>
              <a:rPr lang="en" sz="2500" dirty="0"/>
              <a:t>.csv (Kaggle)</a:t>
            </a:r>
            <a:endParaRPr sz="2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Ovaj skup podataka pruža </a:t>
            </a:r>
            <a:r>
              <a:rPr lang="sr-Latn-RS" sz="1800" dirty="0"/>
              <a:t>uvid u razne parametre pomoću koji se odredjuje zagadjenost vazduha u periodu od 2004. do 2005. godine u jednom Italijanskom gradu.</a:t>
            </a: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512700" y="287075"/>
            <a:ext cx="8118600" cy="8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Prikaz podataka </a:t>
            </a:r>
            <a:endParaRPr sz="3100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31DBDDC-72AF-4A4B-A322-82A771395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52" y="1175975"/>
            <a:ext cx="8684095" cy="24278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EA0E24-90F0-C528-8269-24A887CB28A4}"/>
              </a:ext>
            </a:extLst>
          </p:cNvPr>
          <p:cNvSpPr txBox="1"/>
          <p:nvPr/>
        </p:nvSpPr>
        <p:spPr>
          <a:xfrm>
            <a:off x="229952" y="3659748"/>
            <a:ext cx="8251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Vidimo</a:t>
            </a:r>
            <a:r>
              <a:rPr lang="en-US" dirty="0">
                <a:solidFill>
                  <a:schemeClr val="bg1"/>
                </a:solidFill>
              </a:rPr>
              <a:t> da </a:t>
            </a:r>
            <a:r>
              <a:rPr lang="en-US" dirty="0" err="1">
                <a:solidFill>
                  <a:schemeClr val="bg1"/>
                </a:solidFill>
              </a:rPr>
              <a:t>ovaj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skup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sr-Latn-RS" dirty="0">
                <a:solidFill>
                  <a:schemeClr val="bg1"/>
                </a:solidFill>
              </a:rPr>
              <a:t>podatke koji su loše formatirani, ima čak i dve NaN kolone, ali to ćemo rešavati kasnije u obradi podataka.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C269CBD8-58D5-49FA-E361-8D6851A1C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800CCA5B-1C4A-F610-E940-CBC45A3D1B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700" y="287075"/>
            <a:ext cx="8118600" cy="8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Kratka analiza podataka</a:t>
            </a:r>
            <a:endParaRPr sz="3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4E22D-7124-5A18-EE38-D73B02D93594}"/>
              </a:ext>
            </a:extLst>
          </p:cNvPr>
          <p:cNvSpPr txBox="1"/>
          <p:nvPr/>
        </p:nvSpPr>
        <p:spPr>
          <a:xfrm>
            <a:off x="229952" y="3659748"/>
            <a:ext cx="825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Ovde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koriste</a:t>
            </a:r>
            <a:r>
              <a:rPr lang="sr-Latn-RS" dirty="0">
                <a:solidFill>
                  <a:schemeClr val="bg1"/>
                </a:solidFill>
              </a:rPr>
              <a:t>ći describe() funkciju, dobijamo uvid u neke statističke vrednosti našeg skupa podataka.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B11C0C-F787-00AF-A54C-20FF41D58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5975"/>
            <a:ext cx="9144000" cy="230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12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22E6975D-118B-F716-2B12-77A979C0D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457C0EC9-D25A-CEFC-85D1-8C196A442C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700" y="287075"/>
            <a:ext cx="8118600" cy="8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3600" dirty="0"/>
              <a:t>Kratak prikaz tipova naših kolona</a:t>
            </a:r>
            <a:endParaRPr sz="3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C434D2-98BE-7A0B-4ACB-5D64FD5529A1}"/>
              </a:ext>
            </a:extLst>
          </p:cNvPr>
          <p:cNvSpPr txBox="1"/>
          <p:nvPr/>
        </p:nvSpPr>
        <p:spPr>
          <a:xfrm>
            <a:off x="116328" y="4702536"/>
            <a:ext cx="825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Ovde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koriste</a:t>
            </a:r>
            <a:r>
              <a:rPr lang="sr-Latn-RS" dirty="0">
                <a:solidFill>
                  <a:schemeClr val="bg1"/>
                </a:solidFill>
              </a:rPr>
              <a:t>ći info() funkciju, dobijamo uvid u tipove naših kolona.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 descr="A black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677F8337-E6AD-D350-F8FF-0E0ABE3A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6313"/>
            <a:ext cx="9144000" cy="329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75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Faza 2</a:t>
            </a: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Vizuelizacija podataka i dinamičko predstavljanje</a:t>
            </a:r>
            <a:endParaRPr sz="180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Distribucija na</a:t>
            </a:r>
            <a:r>
              <a:rPr lang="sr-Latn-RS" dirty="0"/>
              <a:t>ših podataka</a:t>
            </a: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sr-Latn-RS" dirty="0"/>
              <a:t>Promena podataka kroz vreme</a:t>
            </a: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sr-Latn-RS" dirty="0"/>
              <a:t>Analiza „outlier“-a u našem skupu podataka</a:t>
            </a: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sr-Latn-RS" dirty="0"/>
              <a:t>Prikaz odstupanja kroz scatter plot</a:t>
            </a: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sr-Latn-RS" dirty="0"/>
              <a:t>Korelacije naših kolona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40875" y="253300"/>
            <a:ext cx="85206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Vizualizacija distribucije </a:t>
            </a:r>
            <a:r>
              <a:rPr lang="sr-Latn-RS" sz="1600" dirty="0"/>
              <a:t>naših podataka</a:t>
            </a:r>
            <a:endParaRPr sz="1600" dirty="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 dirty="0"/>
              <a:t>Korišćen je </a:t>
            </a:r>
            <a:r>
              <a:rPr lang="sr-Latn-RS" sz="1600" b="1" dirty="0"/>
              <a:t>Hist</a:t>
            </a:r>
            <a:r>
              <a:rPr lang="en" sz="1600" b="1" dirty="0"/>
              <a:t> plot</a:t>
            </a:r>
            <a:r>
              <a:rPr lang="en" sz="1600" dirty="0"/>
              <a:t> koji pokazuje </a:t>
            </a:r>
            <a:r>
              <a:rPr lang="sr-Latn-RS" sz="1600" dirty="0"/>
              <a:t>distribuciju svih naših kolona</a:t>
            </a:r>
            <a:r>
              <a:rPr lang="en" sz="1600" dirty="0"/>
              <a:t>.</a:t>
            </a:r>
            <a:endParaRPr sz="1600" dirty="0"/>
          </a:p>
        </p:txBody>
      </p:sp>
      <p:pic>
        <p:nvPicPr>
          <p:cNvPr id="3" name="Picture 2" descr="A collage of graphs">
            <a:extLst>
              <a:ext uri="{FF2B5EF4-FFF2-40B4-BE49-F238E27FC236}">
                <a16:creationId xmlns:a16="http://schemas.microsoft.com/office/drawing/2014/main" id="{10AF6FEF-A282-6130-A1AD-4D905E5F3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16" y="1228217"/>
            <a:ext cx="8571059" cy="373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279150" y="220825"/>
            <a:ext cx="85857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Analiza </a:t>
            </a:r>
            <a:r>
              <a:rPr lang="sr-Latn-RS" dirty="0"/>
              <a:t>„outlier“-a kod naših numeričkih kolona</a:t>
            </a:r>
            <a:endParaRPr lang="en-US" dirty="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Korišćen je </a:t>
            </a:r>
            <a:r>
              <a:rPr lang="sr-Latn-RS" b="1" dirty="0"/>
              <a:t>Box</a:t>
            </a:r>
            <a:r>
              <a:rPr lang="en" b="1" dirty="0"/>
              <a:t> plot</a:t>
            </a:r>
            <a:r>
              <a:rPr lang="en" dirty="0"/>
              <a:t> </a:t>
            </a:r>
            <a:r>
              <a:rPr lang="sr-Latn-RS" dirty="0"/>
              <a:t>za svaku od naših numeričkih kolona</a:t>
            </a:r>
            <a:r>
              <a:rPr lang="en" dirty="0"/>
              <a:t>.</a:t>
            </a:r>
            <a:endParaRPr dirty="0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8E480544-CE81-31D1-6E77-39319AE59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2693"/>
            <a:ext cx="9144000" cy="31527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279150" y="220825"/>
            <a:ext cx="85857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Analiza promene vrednosti naših kolona kroz neki vremenski period</a:t>
            </a:r>
            <a:endParaRPr dirty="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Korišćen je </a:t>
            </a:r>
            <a:r>
              <a:rPr lang="sr-Latn-RS" b="1" dirty="0"/>
              <a:t>Plot</a:t>
            </a:r>
            <a:r>
              <a:rPr lang="en" b="1" dirty="0"/>
              <a:t> </a:t>
            </a:r>
            <a:r>
              <a:rPr lang="en" dirty="0"/>
              <a:t>koji koristi na</a:t>
            </a:r>
            <a:r>
              <a:rPr lang="sr-Latn-RS" dirty="0"/>
              <a:t>še indekse kao vreme, kako bi dobili uvid u vremensku seriju</a:t>
            </a:r>
            <a:r>
              <a:rPr lang="en" dirty="0"/>
              <a:t>.</a:t>
            </a:r>
            <a:endParaRPr dirty="0"/>
          </a:p>
        </p:txBody>
      </p:sp>
      <p:pic>
        <p:nvPicPr>
          <p:cNvPr id="3" name="Picture 2" descr="A group of blue lines&#10;&#10;AI-generated content may be incorrect.">
            <a:extLst>
              <a:ext uri="{FF2B5EF4-FFF2-40B4-BE49-F238E27FC236}">
                <a16:creationId xmlns:a16="http://schemas.microsoft.com/office/drawing/2014/main" id="{B21889BD-57C9-B5D3-9476-311A52AEE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91228"/>
            <a:ext cx="9144000" cy="31513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5F42CFC7-07A1-BF0C-FF5B-9BC7727DC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>
            <a:extLst>
              <a:ext uri="{FF2B5EF4-FFF2-40B4-BE49-F238E27FC236}">
                <a16:creationId xmlns:a16="http://schemas.microsoft.com/office/drawing/2014/main" id="{D545E739-1699-28EF-5D89-835CBA6F00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9150" y="220824"/>
            <a:ext cx="8585700" cy="12075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Analiza promene vrednosti naših kolona kroz neki vremenski period</a:t>
            </a:r>
            <a:endParaRPr dirty="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Korišćen je </a:t>
            </a:r>
            <a:r>
              <a:rPr lang="sr-Latn-RS" b="1" dirty="0"/>
              <a:t>Scatter plot</a:t>
            </a:r>
            <a:r>
              <a:rPr lang="en" b="1" dirty="0"/>
              <a:t> </a:t>
            </a:r>
            <a:r>
              <a:rPr lang="en" dirty="0"/>
              <a:t>koji koristi na</a:t>
            </a:r>
            <a:r>
              <a:rPr lang="sr-Latn-RS" dirty="0"/>
              <a:t>še indekse kao vreme, kako bi dobili uvid u vremensku seriju, ali umesto prethodnog primera, daje nam bolji uvid u odstupanja naših vrednosti</a:t>
            </a:r>
            <a:r>
              <a:rPr lang="en" dirty="0"/>
              <a:t>.</a:t>
            </a:r>
            <a:endParaRPr dirty="0"/>
          </a:p>
        </p:txBody>
      </p:sp>
      <p:pic>
        <p:nvPicPr>
          <p:cNvPr id="4" name="Picture 3" descr="A group of green graphs&#10;&#10;AI-generated content may be incorrect.">
            <a:extLst>
              <a:ext uri="{FF2B5EF4-FFF2-40B4-BE49-F238E27FC236}">
                <a16:creationId xmlns:a16="http://schemas.microsoft.com/office/drawing/2014/main" id="{43173731-284E-8A51-DC27-31C459373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5817"/>
            <a:ext cx="9144000" cy="315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240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279150" y="220825"/>
            <a:ext cx="2469461" cy="47018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Analiza </a:t>
            </a:r>
            <a:r>
              <a:rPr lang="sr-Latn-RS" dirty="0"/>
              <a:t>korelacije naših podataka</a:t>
            </a:r>
            <a:r>
              <a:rPr lang="en" dirty="0"/>
              <a:t>.</a:t>
            </a:r>
            <a:endParaRPr dirty="0"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sr-Latn-RS" dirty="0"/>
              <a:t>Korišćen je </a:t>
            </a:r>
            <a:r>
              <a:rPr lang="sr-Latn-RS" b="1" dirty="0"/>
              <a:t>Heatmap</a:t>
            </a:r>
            <a:r>
              <a:rPr lang="sr-Latn-RS" dirty="0"/>
              <a:t> (matrica korelacije) na našim neobradjenim podacima, i na kolonama koje su NaN, kao što se može i videti sa slike.</a:t>
            </a:r>
            <a:endParaRPr dirty="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Picture 2" descr="A red and blue squares with numbers&#10;&#10;AI-generated content may be incorrect.">
            <a:extLst>
              <a:ext uri="{FF2B5EF4-FFF2-40B4-BE49-F238E27FC236}">
                <a16:creationId xmlns:a16="http://schemas.microsoft.com/office/drawing/2014/main" id="{728F7B29-68B6-7F2A-4AAC-09CEE2AE4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300" y="220825"/>
            <a:ext cx="5924550" cy="4701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Faza 3</a:t>
            </a: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Priprema podataka i istraživačka analiza</a:t>
            </a:r>
            <a:endParaRPr sz="1800"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2"/>
          </p:nvPr>
        </p:nvSpPr>
        <p:spPr>
          <a:xfrm>
            <a:off x="4895725" y="747100"/>
            <a:ext cx="3837000" cy="40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Priprema i obrada podataka</a:t>
            </a: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Deskriptivna statistika i analiza nedostajućih vrednosti</a:t>
            </a: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Detekcija i analiza outlier-a</a:t>
            </a:r>
            <a:endParaRPr lang="sr-Latn-RS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sr-Latn-RS" dirty="0"/>
              <a:t>Skaliranje naših podataka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693DA-7E84-4E22-CF22-72C8AADCB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sr-Latn-RS" sz="3000" dirty="0"/>
              <a:t>EDA i priprema podataka</a:t>
            </a:r>
            <a:endParaRPr lang="en-US" sz="3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4149E-FA0A-B7EB-A25C-A07220B3C19C}"/>
              </a:ext>
            </a:extLst>
          </p:cNvPr>
          <p:cNvSpPr>
            <a:spLocks noGrp="1"/>
          </p:cNvSpPr>
          <p:nvPr>
            <p:ph type="body" idx="4294967295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0" y="1249363"/>
            <a:ext cx="8521700" cy="326390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5000"/>
              </a:lnSpc>
              <a:spcBef>
                <a:spcPts val="2500"/>
              </a:spcBef>
              <a:buClr>
                <a:srgbClr val="000000"/>
              </a:buClr>
              <a:buFont typeface="Arial"/>
              <a:buNone/>
            </a:pPr>
            <a:r>
              <a:rPr lang="sr-Latn-RS" sz="1400" b="1" dirty="0"/>
              <a:t>Sklanjanje NaN vrednosti</a:t>
            </a:r>
            <a:r>
              <a:rPr lang="en-US" sz="1400" b="1" dirty="0"/>
              <a:t>, </a:t>
            </a:r>
            <a:r>
              <a:rPr lang="en-US" sz="1400" b="1" dirty="0" err="1"/>
              <a:t>duplikata</a:t>
            </a:r>
            <a:r>
              <a:rPr lang="en-US" sz="1400" b="1" dirty="0"/>
              <a:t> I </a:t>
            </a:r>
            <a:r>
              <a:rPr lang="sr-Latn-RS" sz="1400" b="1" dirty="0"/>
              <a:t>„outlier“-a</a:t>
            </a:r>
            <a:endParaRPr lang="en-US" sz="1400" b="1" dirty="0"/>
          </a:p>
          <a:p>
            <a:pPr marL="0" lvl="1" indent="0">
              <a:lnSpc>
                <a:spcPct val="105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r>
              <a:rPr lang="sr-Latn-RS" dirty="0"/>
              <a:t>U našem skupu podataka, imamo dve kolone koje su cele NaN (sve vrednost), njih ćemo izbaciti, dok ćemo ostale kolone, na osnovu procenta nedostajućih podataka ili impute-ovati ili izbaciti. Za impute-ovanje ćemo koristiti KnnImputer i SimpleImputer (ovo smo izabrali na osnovu broja nedostajućih vrednosti).</a:t>
            </a:r>
            <a:r>
              <a:rPr lang="en-US" dirty="0"/>
              <a:t> </a:t>
            </a:r>
            <a:r>
              <a:rPr lang="en-US" dirty="0" err="1"/>
              <a:t>Ovde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takodje</a:t>
            </a:r>
            <a:r>
              <a:rPr lang="en-US" dirty="0"/>
              <a:t> </a:t>
            </a:r>
            <a:r>
              <a:rPr lang="sr-Latn-RS" dirty="0"/>
              <a:t>obradili i duplikate, kako bi bili sigurni da nema ponavljanja, ali smo i koristeći IQR metodu, sklonili outlier-e iz našeg skupa podataka, gde smo obrisali ~11.88% naših kolona (1112 kolona), koje su bile outlier-i po IQR metodi koja koristi Q1 i Q3 prilikom preračuna.</a:t>
            </a:r>
            <a:endParaRPr lang="en-US" dirty="0"/>
          </a:p>
          <a:p>
            <a:pPr marL="0" indent="0">
              <a:lnSpc>
                <a:spcPct val="105000"/>
              </a:lnSpc>
              <a:spcBef>
                <a:spcPts val="2500"/>
              </a:spcBef>
              <a:buClr>
                <a:srgbClr val="000000"/>
              </a:buClr>
              <a:buFont typeface="Arial"/>
              <a:buNone/>
            </a:pPr>
            <a:r>
              <a:rPr lang="sr-Latn-RS" sz="1400" b="1" dirty="0"/>
              <a:t>Priprema podataka</a:t>
            </a:r>
            <a:endParaRPr lang="en-US" sz="1400" b="1" dirty="0"/>
          </a:p>
          <a:p>
            <a:pPr marL="0" lvl="1" indent="0">
              <a:lnSpc>
                <a:spcPct val="105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r>
              <a:rPr lang="en-US" dirty="0"/>
              <a:t>U </a:t>
            </a:r>
            <a:r>
              <a:rPr lang="en-US" dirty="0" err="1"/>
              <a:t>pripremu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sr-Latn-RS" dirty="0"/>
              <a:t>našeg skupa, ulazi i formiranje nove kolone, na osnovu dve prethodne, umesto da Date i Time budu odvojene, zarad lakše manipulacije u kasnijoj obradi, mi ćemo formirati jednu DateTime kolonu koju možemo lako da koristimo kasnije. Takodje, tu spada i dobro formatiranje podataka, kako smo primetili u Fazi 1, neki naši podaci koji bi trebalo da su numerički, su tipa object, što se dešava jer smo imali , umesto . u našem decimalnom zapisu npr. (1,02 umesto 1.02), pa smo i to rešili u ovoj sekciji.</a:t>
            </a:r>
            <a:endParaRPr lang="en-US" dirty="0"/>
          </a:p>
          <a:p>
            <a:pPr marL="0" lvl="1" indent="0">
              <a:lnSpc>
                <a:spcPct val="105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610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>
            <a:spLocks noGrp="1"/>
          </p:cNvSpPr>
          <p:nvPr>
            <p:ph type="body" idx="1"/>
          </p:nvPr>
        </p:nvSpPr>
        <p:spPr>
          <a:xfrm>
            <a:off x="263200" y="865275"/>
            <a:ext cx="2231110" cy="4182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 dirty="0">
                <a:latin typeface="Arial"/>
                <a:ea typeface="Arial"/>
                <a:cs typeface="Arial"/>
                <a:sym typeface="Arial"/>
              </a:rPr>
              <a:t>Korelaciona analiza</a:t>
            </a:r>
            <a:endParaRPr sz="13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 dirty="0">
                <a:latin typeface="Arial"/>
                <a:ea typeface="Arial"/>
                <a:cs typeface="Arial"/>
                <a:sym typeface="Arial"/>
              </a:rPr>
              <a:t>Prikazan </a:t>
            </a:r>
            <a:r>
              <a:rPr lang="en" sz="1300" b="1" dirty="0">
                <a:latin typeface="Arial"/>
                <a:ea typeface="Arial"/>
                <a:cs typeface="Arial"/>
                <a:sym typeface="Arial"/>
              </a:rPr>
              <a:t>heatmap</a:t>
            </a:r>
            <a:r>
              <a:rPr lang="en" sz="1300" dirty="0">
                <a:latin typeface="Arial"/>
                <a:ea typeface="Arial"/>
                <a:cs typeface="Arial"/>
                <a:sym typeface="Arial"/>
              </a:rPr>
              <a:t> korelacija numeričkih kolona.</a:t>
            </a:r>
            <a:endParaRPr lang="sr-Latn-RS" sz="1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sr-Latn-RS" sz="1300" dirty="0">
                <a:latin typeface="Arial"/>
                <a:ea typeface="Arial"/>
                <a:cs typeface="Arial"/>
                <a:sym typeface="Arial"/>
              </a:rPr>
              <a:t>Vidimo da PT08.S5 I PT08.S1 imaju jaku pozitivnu korelaciju, takodje i C6H6(GT) i PT08.S2</a:t>
            </a: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sr-Latn-RS" sz="1300" dirty="0">
                <a:latin typeface="Arial"/>
                <a:ea typeface="Arial"/>
                <a:cs typeface="Arial"/>
                <a:sym typeface="Arial"/>
              </a:rPr>
              <a:t>Dok PT08.S3 i PT08.S5 imaju jaku negativnu korelaciju</a:t>
            </a: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146050" lvl="0" indent="0" algn="l" rtl="0">
              <a:spcBef>
                <a:spcPts val="1200"/>
              </a:spcBef>
              <a:spcAft>
                <a:spcPts val="0"/>
              </a:spcAft>
              <a:buSzPts val="1300"/>
              <a:buNone/>
            </a:pPr>
            <a:endParaRPr sz="13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Picture 2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57CD8E23-479F-7D3C-32A9-63BFBFED1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310" y="0"/>
            <a:ext cx="664969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Faza 4</a:t>
            </a:r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ptos"/>
                <a:ea typeface="Aptos"/>
                <a:cs typeface="Aptos"/>
                <a:sym typeface="Aptos"/>
              </a:rPr>
              <a:t>Statistička analiza i testiranje hipoteza</a:t>
            </a:r>
            <a:endParaRPr sz="2500"/>
          </a:p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2"/>
          </p:nvPr>
        </p:nvSpPr>
        <p:spPr>
          <a:xfrm>
            <a:off x="4939500" y="189200"/>
            <a:ext cx="3837000" cy="47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Statistička analiza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>
            <a:spLocks noGrp="1"/>
          </p:cNvSpPr>
          <p:nvPr>
            <p:ph type="body" idx="1"/>
          </p:nvPr>
        </p:nvSpPr>
        <p:spPr>
          <a:xfrm>
            <a:off x="113391" y="75749"/>
            <a:ext cx="3976828" cy="18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>
                <a:latin typeface="Arial"/>
                <a:ea typeface="Arial"/>
                <a:cs typeface="Arial"/>
                <a:sym typeface="Arial"/>
              </a:rPr>
              <a:t>Statistička analiza</a:t>
            </a:r>
            <a:endParaRPr sz="13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 dirty="0">
                <a:latin typeface="Arial"/>
                <a:ea typeface="Arial"/>
                <a:cs typeface="Arial"/>
                <a:sym typeface="Arial"/>
              </a:rPr>
              <a:t>Shapiro-Wilk test za normalnost podataka.</a:t>
            </a: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 dirty="0">
                <a:latin typeface="Arial"/>
                <a:ea typeface="Arial"/>
                <a:cs typeface="Arial"/>
                <a:sym typeface="Arial"/>
              </a:rPr>
              <a:t>Mann-Whitney U-test za poređenje grupa.</a:t>
            </a: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 dirty="0">
                <a:latin typeface="Arial"/>
                <a:ea typeface="Arial"/>
                <a:cs typeface="Arial"/>
                <a:sym typeface="Arial"/>
              </a:rPr>
              <a:t>Cohen-ov d za efekat veličine.</a:t>
            </a: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 dirty="0">
                <a:latin typeface="Arial"/>
                <a:ea typeface="Arial"/>
                <a:cs typeface="Arial"/>
                <a:sym typeface="Arial"/>
              </a:rPr>
              <a:t>Interval poverenja za numeričke kolone.</a:t>
            </a: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66" name="Google Shape;166;p29"/>
          <p:cNvSpPr txBox="1">
            <a:spLocks noGrp="1"/>
          </p:cNvSpPr>
          <p:nvPr>
            <p:ph type="body" idx="2"/>
          </p:nvPr>
        </p:nvSpPr>
        <p:spPr>
          <a:xfrm>
            <a:off x="113391" y="2268591"/>
            <a:ext cx="3976828" cy="27991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 dirty="0">
                <a:latin typeface="Arial"/>
                <a:ea typeface="Arial"/>
                <a:cs typeface="Arial"/>
                <a:sym typeface="Arial"/>
              </a:rPr>
              <a:t>Normalnost:</a:t>
            </a:r>
            <a:r>
              <a:rPr lang="en" sz="13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sr-Latn-RS" sz="1300" dirty="0">
                <a:latin typeface="Arial"/>
                <a:ea typeface="Arial"/>
                <a:cs typeface="Arial"/>
                <a:sym typeface="Arial"/>
              </a:rPr>
              <a:t>Pomoću Shapiro-Wilk testa, vidimo da ni jedna od naših izabranih kolona ne prati normalnu distribuciju</a:t>
            </a:r>
            <a:r>
              <a:rPr lang="en" sz="13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 dirty="0">
                <a:latin typeface="Arial"/>
                <a:ea typeface="Arial"/>
                <a:cs typeface="Arial"/>
                <a:sym typeface="Arial"/>
              </a:rPr>
              <a:t>Poređenje:</a:t>
            </a:r>
            <a:r>
              <a:rPr lang="en" sz="13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sr-Latn-RS" sz="1300" dirty="0">
                <a:latin typeface="Arial"/>
                <a:ea typeface="Arial"/>
                <a:cs typeface="Arial"/>
                <a:sym typeface="Arial"/>
              </a:rPr>
              <a:t>Poredićemo svaku od naših T, RH i AH, pomoću Mann-Whitney U testa.</a:t>
            </a: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 dirty="0">
                <a:latin typeface="Arial"/>
                <a:ea typeface="Arial"/>
                <a:cs typeface="Arial"/>
                <a:sym typeface="Arial"/>
              </a:rPr>
              <a:t>Efekat veličine:</a:t>
            </a:r>
            <a:r>
              <a:rPr lang="en-US" sz="1300" dirty="0">
                <a:latin typeface="Arial"/>
                <a:ea typeface="Arial"/>
                <a:cs typeface="Arial"/>
                <a:sym typeface="Arial"/>
              </a:rPr>
              <a:t> Mala </a:t>
            </a:r>
            <a:r>
              <a:rPr lang="en-US" sz="1300" dirty="0" err="1">
                <a:latin typeface="Arial"/>
                <a:ea typeface="Arial"/>
                <a:cs typeface="Arial"/>
                <a:sym typeface="Arial"/>
              </a:rPr>
              <a:t>veličina</a:t>
            </a:r>
            <a:r>
              <a:rPr lang="en-US" sz="13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dirty="0" err="1">
                <a:latin typeface="Arial"/>
                <a:ea typeface="Arial"/>
                <a:cs typeface="Arial"/>
                <a:sym typeface="Arial"/>
              </a:rPr>
              <a:t>efekta</a:t>
            </a:r>
            <a:r>
              <a:rPr lang="en-US" sz="13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dirty="0" err="1">
                <a:latin typeface="Arial"/>
                <a:ea typeface="Arial"/>
                <a:cs typeface="Arial"/>
                <a:sym typeface="Arial"/>
              </a:rPr>
              <a:t>između</a:t>
            </a:r>
            <a:r>
              <a:rPr lang="en-US" sz="13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dirty="0" err="1">
                <a:latin typeface="Arial"/>
                <a:ea typeface="Arial"/>
                <a:cs typeface="Arial"/>
                <a:sym typeface="Arial"/>
              </a:rPr>
              <a:t>grupa</a:t>
            </a:r>
            <a:r>
              <a:rPr lang="en-US" sz="13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00" dirty="0" err="1">
                <a:latin typeface="Arial"/>
                <a:ea typeface="Arial"/>
                <a:cs typeface="Arial"/>
                <a:sym typeface="Arial"/>
              </a:rPr>
              <a:t>koja</a:t>
            </a:r>
            <a:r>
              <a:rPr lang="en-US" sz="1300" dirty="0"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300" dirty="0" err="1">
                <a:latin typeface="Arial"/>
                <a:ea typeface="Arial"/>
                <a:cs typeface="Arial"/>
                <a:sym typeface="Arial"/>
              </a:rPr>
              <a:t>odredjuje</a:t>
            </a:r>
            <a:r>
              <a:rPr lang="en-US" sz="13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dirty="0" err="1">
                <a:latin typeface="Arial"/>
                <a:ea typeface="Arial"/>
                <a:cs typeface="Arial"/>
                <a:sym typeface="Arial"/>
              </a:rPr>
              <a:t>pomo</a:t>
            </a:r>
            <a:r>
              <a:rPr lang="sr-Latn-RS" sz="1300" dirty="0">
                <a:latin typeface="Arial"/>
                <a:ea typeface="Arial"/>
                <a:cs typeface="Arial"/>
                <a:sym typeface="Arial"/>
              </a:rPr>
              <a:t>ću Cohen-ovog d.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r-Latn-RS" sz="1300" b="1" dirty="0">
                <a:latin typeface="Arial"/>
                <a:ea typeface="Arial"/>
                <a:cs typeface="Arial"/>
                <a:sym typeface="Arial"/>
              </a:rPr>
              <a:t>Napomena</a:t>
            </a:r>
            <a:r>
              <a:rPr lang="en" sz="1300" b="1" dirty="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3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sr-Latn-RS" sz="1300" dirty="0">
                <a:latin typeface="Arial"/>
                <a:ea typeface="Arial"/>
                <a:cs typeface="Arial"/>
                <a:sym typeface="Arial"/>
              </a:rPr>
              <a:t>Ovo sve možemo proširiti sa našim ostalim numeričkim kolonama.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3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3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Picture 2" descr="A group of red lines&#10;&#10;AI-generated content may be incorrect.">
            <a:extLst>
              <a:ext uri="{FF2B5EF4-FFF2-40B4-BE49-F238E27FC236}">
                <a16:creationId xmlns:a16="http://schemas.microsoft.com/office/drawing/2014/main" id="{B09FC65A-8274-D3B8-42B6-67CBFA30F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219" y="9084"/>
            <a:ext cx="505378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57ADA-5AAA-BFD9-F3B8-38BF9B58A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3200"/>
          </a:xfrm>
        </p:spPr>
        <p:txBody>
          <a:bodyPr wrap="square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sr-Latn-RS" sz="2800" dirty="0"/>
              <a:t>Rezultati</a:t>
            </a:r>
            <a:endParaRPr lang="en-US" sz="2800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AA2D7AD-4626-2CC7-27D4-6E90E3E06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99" y="150052"/>
            <a:ext cx="3146024" cy="2255356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26A3ACE-297F-DE41-5DFA-F43B8D5C6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99" y="2484931"/>
            <a:ext cx="3146024" cy="2572448"/>
          </a:xfrm>
          <a:prstGeom prst="rect">
            <a:avLst/>
          </a:prstGeom>
        </p:spPr>
      </p:pic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C3E88C4-33BA-E219-0AF0-74F663766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425" y="613200"/>
            <a:ext cx="5627076" cy="444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94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3214F-BB45-1D87-096C-40177B116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1AB2E-6963-1C3F-DFBF-7C42D3989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4206"/>
          </a:xfrm>
        </p:spPr>
        <p:txBody>
          <a:bodyPr wrap="square" anchor="ctr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sr-Latn-RS" sz="2800" dirty="0"/>
              <a:t>Intervali poverenja – opseg u kojem očekujemo da se nadje srednja vrednost kolone, sa odredjenim nivoom sigurnosti</a:t>
            </a:r>
            <a:endParaRPr lang="en-US" sz="2800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42BC782-DE9A-A86F-6386-0831F724F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78" y="896538"/>
            <a:ext cx="3463216" cy="1696345"/>
          </a:xfrm>
          <a:prstGeom prst="rect">
            <a:avLst/>
          </a:prstGeom>
        </p:spPr>
      </p:pic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D27ABF8-D5C0-598A-88CF-E13BD5BF5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640" y="1564444"/>
            <a:ext cx="4122603" cy="2056878"/>
          </a:xfrm>
          <a:prstGeom prst="rect">
            <a:avLst/>
          </a:prstGeom>
        </p:spPr>
      </p:pic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D226D5B-5FE8-2268-E577-C4FBD0E77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06" y="2775215"/>
            <a:ext cx="4067561" cy="212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53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Faza 5</a:t>
            </a:r>
            <a:endParaRPr/>
          </a:p>
        </p:txBody>
      </p:sp>
      <p:sp>
        <p:nvSpPr>
          <p:cNvPr id="189" name="Google Shape;189;p3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dirty="0">
                <a:latin typeface="Aptos"/>
                <a:ea typeface="Aptos"/>
                <a:cs typeface="Aptos"/>
                <a:sym typeface="Aptos"/>
              </a:rPr>
              <a:t>Prediktivno modeliranje i mašinsko učenje</a:t>
            </a:r>
            <a:endParaRPr sz="2400" dirty="0"/>
          </a:p>
        </p:txBody>
      </p:sp>
      <p:sp>
        <p:nvSpPr>
          <p:cNvPr id="190" name="Google Shape;190;p32"/>
          <p:cNvSpPr txBox="1">
            <a:spLocks noGrp="1"/>
          </p:cNvSpPr>
          <p:nvPr>
            <p:ph type="body" idx="2"/>
          </p:nvPr>
        </p:nvSpPr>
        <p:spPr>
          <a:xfrm>
            <a:off x="4939500" y="189200"/>
            <a:ext cx="3837000" cy="47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Linearna regresija</a:t>
            </a:r>
            <a:endParaRPr lang="sr-Latn-RS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sr-Latn-RS" dirty="0"/>
              <a:t>Ridge i Lasso (CV)</a:t>
            </a: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SV</a:t>
            </a:r>
            <a:r>
              <a:rPr lang="sr-Latn-RS" dirty="0"/>
              <a:t>R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2">
          <a:extLst>
            <a:ext uri="{FF2B5EF4-FFF2-40B4-BE49-F238E27FC236}">
              <a16:creationId xmlns:a16="http://schemas.microsoft.com/office/drawing/2014/main" id="{D6D75AF7-8B17-8B3C-FB5A-94E297308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450C94-E2CF-CC24-088C-1FB42A23FB73}"/>
              </a:ext>
            </a:extLst>
          </p:cNvPr>
          <p:cNvSpPr txBox="1"/>
          <p:nvPr/>
        </p:nvSpPr>
        <p:spPr>
          <a:xfrm>
            <a:off x="124445" y="81160"/>
            <a:ext cx="444755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Cilj</a:t>
            </a:r>
            <a:r>
              <a:rPr lang="en-US" b="1" dirty="0"/>
              <a:t>: </a:t>
            </a:r>
          </a:p>
          <a:p>
            <a:r>
              <a:rPr lang="en-US" dirty="0" err="1"/>
              <a:t>Predikcija</a:t>
            </a:r>
            <a:r>
              <a:rPr lang="en-US" dirty="0"/>
              <a:t> temperature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sr-Latn-RS" dirty="0"/>
              <a:t>ših ulaznih parametara, sa što većom preciznošću, tj. velikim R</a:t>
            </a:r>
            <a:r>
              <a:rPr lang="en-US" dirty="0"/>
              <a:t>^2 a </a:t>
            </a:r>
            <a:r>
              <a:rPr lang="en-US" dirty="0" err="1"/>
              <a:t>malim</a:t>
            </a:r>
            <a:r>
              <a:rPr lang="en-US" dirty="0"/>
              <a:t> MAE, MSE I RMSE.</a:t>
            </a:r>
            <a:endParaRPr lang="sr-Latn-RS" dirty="0"/>
          </a:p>
          <a:p>
            <a:endParaRPr lang="sr-Latn-RS" dirty="0"/>
          </a:p>
          <a:p>
            <a:r>
              <a:rPr lang="sr-Latn-RS" b="1" dirty="0"/>
              <a:t>Izabrani feature-i:</a:t>
            </a:r>
          </a:p>
          <a:p>
            <a:r>
              <a:rPr lang="sr-Latn-RS" dirty="0"/>
              <a:t>Sve kolone, bez DateTime-a i bez naše ciljne kolone</a:t>
            </a:r>
          </a:p>
          <a:p>
            <a:endParaRPr lang="sr-Latn-RS" dirty="0"/>
          </a:p>
          <a:p>
            <a:r>
              <a:rPr lang="sr-Latn-RS" b="1" dirty="0"/>
              <a:t>Trening i test podela:</a:t>
            </a:r>
          </a:p>
          <a:p>
            <a:r>
              <a:rPr lang="sr-Latn-RS" dirty="0"/>
              <a:t>Uzeli smo podelu na 0.8, tj. 80% podataka za trening, 20% za test.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94F306-9CFA-2E1D-A750-65A7EB3146CD}"/>
              </a:ext>
            </a:extLst>
          </p:cNvPr>
          <p:cNvSpPr txBox="1"/>
          <p:nvPr/>
        </p:nvSpPr>
        <p:spPr>
          <a:xfrm>
            <a:off x="4572000" y="121683"/>
            <a:ext cx="444755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Primenjeni</a:t>
            </a:r>
            <a:r>
              <a:rPr lang="en-US" b="1" dirty="0"/>
              <a:t> </a:t>
            </a:r>
            <a:r>
              <a:rPr lang="en-US" b="1" dirty="0" err="1"/>
              <a:t>modeli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Linearna</a:t>
            </a:r>
            <a:r>
              <a:rPr lang="en-US" dirty="0"/>
              <a:t> </a:t>
            </a:r>
            <a:r>
              <a:rPr lang="en-US" dirty="0" err="1"/>
              <a:t>regresija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Lasso I Ridge </a:t>
            </a:r>
            <a:r>
              <a:rPr lang="en-US" dirty="0" err="1"/>
              <a:t>regresije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Cross-Validation, </a:t>
            </a:r>
            <a:r>
              <a:rPr lang="en-US" dirty="0" err="1"/>
              <a:t>kako</a:t>
            </a:r>
            <a:r>
              <a:rPr lang="en-US" dirty="0"/>
              <a:t> bi </a:t>
            </a:r>
            <a:r>
              <a:rPr lang="en-US" dirty="0" err="1"/>
              <a:t>na</a:t>
            </a:r>
            <a:r>
              <a:rPr lang="sr-Latn-RS" dirty="0"/>
              <a:t>šli najbolje parametre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Support vector Regression (SVR) sa različitim kernelima: Linear, RBF, Poly i Sigmoid.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dirty="0"/>
          </a:p>
          <a:p>
            <a:r>
              <a:rPr lang="sr-Latn-RS" b="1" dirty="0"/>
              <a:t>Razlike u kernelima: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Linear se koristi kada je odnos skoro linearan ili nemamo mnogo feature-a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RBF modeluje komplikovane nelinearne odnose, ali može lako da overfittuje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Poly može da uhvati specifične relacije, ali je spor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Sigmoid je tu samo kao eksperiment, može i bez njega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EE9B5A-9856-6F4B-699F-6A3BED01449E}"/>
              </a:ext>
            </a:extLst>
          </p:cNvPr>
          <p:cNvSpPr txBox="1"/>
          <p:nvPr/>
        </p:nvSpPr>
        <p:spPr>
          <a:xfrm>
            <a:off x="124444" y="2543373"/>
            <a:ext cx="44475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/>
              <a:t>Metrike: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R^2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 absolute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 squared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Root mean squared error</a:t>
            </a:r>
            <a:endParaRPr lang="sr-Latn-R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0738AF-3755-ECC1-D950-B9643B17E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060" y="3545563"/>
            <a:ext cx="2765434" cy="1476254"/>
          </a:xfrm>
          <a:prstGeom prst="rect">
            <a:avLst/>
          </a:prstGeom>
        </p:spPr>
      </p:pic>
      <p:pic>
        <p:nvPicPr>
          <p:cNvPr id="11" name="Picture 10" descr="A graph of a green line&#10;&#10;AI-generated content may be incorrect.">
            <a:extLst>
              <a:ext uri="{FF2B5EF4-FFF2-40B4-BE49-F238E27FC236}">
                <a16:creationId xmlns:a16="http://schemas.microsoft.com/office/drawing/2014/main" id="{6E796A99-112B-4E15-80D4-989809CE8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586" y="3784266"/>
            <a:ext cx="4675817" cy="127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17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2">
          <a:extLst>
            <a:ext uri="{FF2B5EF4-FFF2-40B4-BE49-F238E27FC236}">
              <a16:creationId xmlns:a16="http://schemas.microsoft.com/office/drawing/2014/main" id="{2F74F0C5-AB8D-AB3C-8167-CFAEC63D3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FDCCDE-5B43-20CA-23F3-FB2360736652}"/>
              </a:ext>
            </a:extLst>
          </p:cNvPr>
          <p:cNvSpPr txBox="1"/>
          <p:nvPr/>
        </p:nvSpPr>
        <p:spPr>
          <a:xfrm>
            <a:off x="-1" y="0"/>
            <a:ext cx="9144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SVR</a:t>
            </a:r>
            <a:endParaRPr lang="en-US" sz="2000" b="1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5653C4EF-3602-D31C-FDB3-01CF81836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784" y="757491"/>
            <a:ext cx="5574804" cy="3969389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85FCB15-52C8-196A-55FA-A9CC6554D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60" y="1730855"/>
            <a:ext cx="3294531" cy="168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80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Faza 6</a:t>
            </a:r>
            <a:endParaRPr/>
          </a:p>
        </p:txBody>
      </p:sp>
      <p:sp>
        <p:nvSpPr>
          <p:cNvPr id="219" name="Google Shape;219;p36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700">
                <a:latin typeface="Aptos"/>
                <a:ea typeface="Aptos"/>
                <a:cs typeface="Aptos"/>
                <a:sym typeface="Aptos"/>
              </a:rPr>
              <a:t>Napredno mašinsko učenje</a:t>
            </a:r>
            <a:r>
              <a:rPr lang="en" sz="1100" b="1" u="sng">
                <a:latin typeface="Aptos"/>
                <a:ea typeface="Aptos"/>
                <a:cs typeface="Aptos"/>
                <a:sym typeface="Aptos"/>
              </a:rPr>
              <a:t> </a:t>
            </a:r>
            <a:endParaRPr sz="2400"/>
          </a:p>
        </p:txBody>
      </p:sp>
      <p:sp>
        <p:nvSpPr>
          <p:cNvPr id="220" name="Google Shape;220;p36"/>
          <p:cNvSpPr txBox="1">
            <a:spLocks noGrp="1"/>
          </p:cNvSpPr>
          <p:nvPr>
            <p:ph type="body" idx="2"/>
          </p:nvPr>
        </p:nvSpPr>
        <p:spPr>
          <a:xfrm>
            <a:off x="4939500" y="189200"/>
            <a:ext cx="3837000" cy="47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K-Means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Stablo odlučivanja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Neuronske mreže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/>
        </p:nvSpPr>
        <p:spPr>
          <a:xfrm>
            <a:off x="177675" y="114050"/>
            <a:ext cx="5709113" cy="2991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K-Means klasterovanje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100" b="1" dirty="0">
                <a:solidFill>
                  <a:schemeClr val="dk1"/>
                </a:solidFill>
              </a:rPr>
              <a:t>Cilj: </a:t>
            </a:r>
            <a:r>
              <a:rPr lang="en" sz="1100" dirty="0">
                <a:solidFill>
                  <a:schemeClr val="dk1"/>
                </a:solidFill>
              </a:rPr>
              <a:t>klasterovanje temperature na razli</a:t>
            </a:r>
            <a:r>
              <a:rPr lang="sr-Latn-RS" sz="1100" dirty="0">
                <a:solidFill>
                  <a:schemeClr val="dk1"/>
                </a:solidFill>
              </a:rPr>
              <a:t>čite klase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sr-Latn-RS" sz="1100" b="1" dirty="0">
                <a:solidFill>
                  <a:schemeClr val="dk1"/>
                </a:solidFill>
              </a:rPr>
              <a:t>Metoda za odredjivanje klastera: </a:t>
            </a:r>
            <a:r>
              <a:rPr lang="sr-Latn-RS" sz="1100" dirty="0">
                <a:solidFill>
                  <a:schemeClr val="dk1"/>
                </a:solidFill>
              </a:rPr>
              <a:t>Elbow metoda, posmatramo prelom na našoj krivoj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sr-Latn-RS" sz="1100" b="1" dirty="0">
                <a:solidFill>
                  <a:schemeClr val="dk1"/>
                </a:solidFill>
              </a:rPr>
              <a:t>Rezultat: </a:t>
            </a:r>
            <a:r>
              <a:rPr lang="sr-Latn-RS" sz="1100" dirty="0">
                <a:solidFill>
                  <a:schemeClr val="dk1"/>
                </a:solidFill>
              </a:rPr>
              <a:t>Na osnovu Elbow metode, vidimo da je recimo K = 4, pa znamo da ćemo dobiti četiri različita klastera, u našem slučaju, to bi mogli da predstavimo na sledeći način: najhladnije vreme, hladno vreme, toplo vreme i najtoplije vreme. Ovo je samo ideja, što više klastera, to više tih podela.</a:t>
            </a: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Primer analize:</a:t>
            </a:r>
            <a:r>
              <a:rPr lang="en" sz="1100" dirty="0">
                <a:solidFill>
                  <a:schemeClr val="dk1"/>
                </a:solidFill>
              </a:rPr>
              <a:t> K-Means klasteri pokazuju određenu</a:t>
            </a:r>
            <a:r>
              <a:rPr lang="sr-Latn-RS" sz="1100" dirty="0">
                <a:solidFill>
                  <a:schemeClr val="dk1"/>
                </a:solidFill>
              </a:rPr>
              <a:t> separaciju, ali ima i nekih preklapanja</a:t>
            </a:r>
            <a:r>
              <a:rPr lang="en-US" sz="1100" dirty="0">
                <a:solidFill>
                  <a:schemeClr val="dk1"/>
                </a:solidFill>
              </a:rPr>
              <a:t>, </a:t>
            </a:r>
            <a:r>
              <a:rPr lang="en-US" sz="1100" dirty="0" err="1">
                <a:solidFill>
                  <a:schemeClr val="dk1"/>
                </a:solidFill>
              </a:rPr>
              <a:t>tj</a:t>
            </a:r>
            <a:r>
              <a:rPr lang="en-US" sz="1100" dirty="0">
                <a:solidFill>
                  <a:schemeClr val="dk1"/>
                </a:solidFill>
              </a:rPr>
              <a:t>. </a:t>
            </a:r>
            <a:r>
              <a:rPr lang="en-US" sz="1100" dirty="0" err="1">
                <a:solidFill>
                  <a:schemeClr val="dk1"/>
                </a:solidFill>
              </a:rPr>
              <a:t>klasteri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nisu</a:t>
            </a:r>
            <a:r>
              <a:rPr lang="en-US" sz="1100" dirty="0">
                <a:solidFill>
                  <a:schemeClr val="dk1"/>
                </a:solidFill>
              </a:rPr>
              <a:t> dobro </a:t>
            </a:r>
            <a:r>
              <a:rPr lang="en-US" sz="1100" dirty="0" err="1">
                <a:solidFill>
                  <a:schemeClr val="dk1"/>
                </a:solidFill>
              </a:rPr>
              <a:t>razdvojeni</a:t>
            </a:r>
            <a:r>
              <a:rPr lang="en-US" sz="1100" dirty="0">
                <a:solidFill>
                  <a:schemeClr val="dk1"/>
                </a:solidFill>
              </a:rPr>
              <a:t>, </a:t>
            </a:r>
            <a:r>
              <a:rPr lang="en-US" sz="1100" dirty="0" err="1">
                <a:solidFill>
                  <a:schemeClr val="dk1"/>
                </a:solidFill>
              </a:rPr>
              <a:t>mo</a:t>
            </a:r>
            <a:r>
              <a:rPr lang="sr-Latn-RS" sz="1100" dirty="0">
                <a:solidFill>
                  <a:schemeClr val="dk1"/>
                </a:solidFill>
              </a:rPr>
              <a:t>žda bi moglo da se proba sa drugim broj klastera npr. 3 ili 5. Ali na osnovu naših rezultata vidimo da ni oni ne razdvajaju klastere skroz.</a:t>
            </a:r>
            <a:br>
              <a:rPr lang="sr-Latn-RS" sz="1100" dirty="0">
                <a:solidFill>
                  <a:schemeClr val="dk1"/>
                </a:solidFill>
              </a:rPr>
            </a:br>
            <a:endParaRPr sz="18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3" name="Picture 2" descr="A graph with a blue line&#10;&#10;AI-generated content may be incorrect.">
            <a:extLst>
              <a:ext uri="{FF2B5EF4-FFF2-40B4-BE49-F238E27FC236}">
                <a16:creationId xmlns:a16="http://schemas.microsoft.com/office/drawing/2014/main" id="{41708C44-A5AF-7FAD-2DF7-00D996A32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469" y="0"/>
            <a:ext cx="2821856" cy="1786313"/>
          </a:xfrm>
          <a:prstGeom prst="rect">
            <a:avLst/>
          </a:prstGeom>
        </p:spPr>
      </p:pic>
      <p:pic>
        <p:nvPicPr>
          <p:cNvPr id="5" name="Picture 4" descr="A colorful dots on a white background&#10;&#10;AI-generated content may be incorrect.">
            <a:extLst>
              <a:ext uri="{FF2B5EF4-FFF2-40B4-BE49-F238E27FC236}">
                <a16:creationId xmlns:a16="http://schemas.microsoft.com/office/drawing/2014/main" id="{3F5A9794-1691-DAC0-E444-239557CEB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115" y="2498799"/>
            <a:ext cx="3046184" cy="2487792"/>
          </a:xfrm>
          <a:prstGeom prst="rect">
            <a:avLst/>
          </a:prstGeom>
        </p:spPr>
      </p:pic>
      <p:pic>
        <p:nvPicPr>
          <p:cNvPr id="7" name="Picture 6" descr="A colorful dots on a white background&#10;&#10;AI-generated content may be incorrect.">
            <a:extLst>
              <a:ext uri="{FF2B5EF4-FFF2-40B4-BE49-F238E27FC236}">
                <a16:creationId xmlns:a16="http://schemas.microsoft.com/office/drawing/2014/main" id="{BE8A4AC4-BAE0-5641-5DD7-F847F4EBD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2231" y="2916341"/>
            <a:ext cx="2534923" cy="2070250"/>
          </a:xfrm>
          <a:prstGeom prst="rect">
            <a:avLst/>
          </a:prstGeom>
        </p:spPr>
      </p:pic>
      <p:pic>
        <p:nvPicPr>
          <p:cNvPr id="9" name="Picture 8" descr="A chart with different colors&#10;&#10;AI-generated content may be incorrect.">
            <a:extLst>
              <a:ext uri="{FF2B5EF4-FFF2-40B4-BE49-F238E27FC236}">
                <a16:creationId xmlns:a16="http://schemas.microsoft.com/office/drawing/2014/main" id="{EFDEBCE7-0DA9-5882-598D-CE55B5C04D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322" y="3148999"/>
            <a:ext cx="2276870" cy="18375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/>
        </p:nvSpPr>
        <p:spPr>
          <a:xfrm>
            <a:off x="-1" y="0"/>
            <a:ext cx="5271877" cy="3895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r-Latn-RS" sz="1100" b="1" dirty="0">
                <a:solidFill>
                  <a:schemeClr val="dk1"/>
                </a:solidFill>
              </a:rPr>
              <a:t>Decision Tree Regressor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Cilj:</a:t>
            </a:r>
            <a:r>
              <a:rPr lang="en" sz="1100" dirty="0">
                <a:solidFill>
                  <a:schemeClr val="dk1"/>
                </a:solidFill>
              </a:rPr>
              <a:t> </a:t>
            </a:r>
            <a:r>
              <a:rPr lang="en-US" sz="1100" dirty="0">
                <a:solidFill>
                  <a:schemeClr val="dk1"/>
                </a:solidFill>
              </a:rPr>
              <a:t>Numeri</a:t>
            </a:r>
            <a:r>
              <a:rPr lang="sr-Latn-RS" sz="1100" dirty="0">
                <a:solidFill>
                  <a:schemeClr val="dk1"/>
                </a:solidFill>
              </a:rPr>
              <a:t>čka vrednost, koja predstavlja našu temperaturu na osnovu datih parametara</a:t>
            </a:r>
            <a:endParaRPr lang="en-US"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Metod: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dirty="0">
                <a:solidFill>
                  <a:schemeClr val="dk1"/>
                </a:solidFill>
              </a:rPr>
              <a:t>Trenirano stablo odlučivanja na osnovu </a:t>
            </a:r>
            <a:r>
              <a:rPr lang="sr-Latn-RS" sz="1100" dirty="0">
                <a:solidFill>
                  <a:schemeClr val="dk1"/>
                </a:solidFill>
              </a:rPr>
              <a:t>naših parametara zagadjenosti</a:t>
            </a:r>
            <a:r>
              <a:rPr lang="en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dirty="0">
                <a:solidFill>
                  <a:schemeClr val="dk1"/>
                </a:solidFill>
              </a:rPr>
              <a:t>Evaluacija performansi korišćenjem MAE, MSE, RMSE i </a:t>
            </a:r>
            <a:r>
              <a:rPr lang="en-US" sz="1100" dirty="0">
                <a:solidFill>
                  <a:schemeClr val="dk1"/>
                </a:solidFill>
              </a:rPr>
              <a:t>R2</a:t>
            </a:r>
            <a:r>
              <a:rPr lang="en" sz="1100" dirty="0">
                <a:solidFill>
                  <a:schemeClr val="dk1"/>
                </a:solidFill>
              </a:rPr>
              <a:t>-score-a.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dirty="0">
                <a:solidFill>
                  <a:schemeClr val="dk1"/>
                </a:solidFill>
              </a:rPr>
              <a:t>Koristimo Grid Cross-Validation sa slede</a:t>
            </a:r>
            <a:r>
              <a:rPr lang="sr-Latn-RS" sz="1100" dirty="0">
                <a:solidFill>
                  <a:schemeClr val="dk1"/>
                </a:solidFill>
              </a:rPr>
              <a:t>ćim parametrima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sa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slike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desno</a:t>
            </a:r>
            <a:r>
              <a:rPr lang="en-US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Rezultati:</a:t>
            </a:r>
            <a:endParaRPr sz="1100" b="1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 dirty="0">
                <a:solidFill>
                  <a:schemeClr val="dk1"/>
                </a:solidFill>
              </a:rPr>
              <a:t>MAE:</a:t>
            </a:r>
            <a:r>
              <a:rPr lang="en" sz="1100" dirty="0">
                <a:solidFill>
                  <a:schemeClr val="dk1"/>
                </a:solidFill>
              </a:rPr>
              <a:t> 0.0514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 dirty="0">
                <a:solidFill>
                  <a:schemeClr val="dk1"/>
                </a:solidFill>
              </a:rPr>
              <a:t>MSE:</a:t>
            </a:r>
            <a:r>
              <a:rPr lang="en" sz="1100" dirty="0">
                <a:solidFill>
                  <a:schemeClr val="dk1"/>
                </a:solidFill>
              </a:rPr>
              <a:t> 0.0072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 dirty="0">
                <a:solidFill>
                  <a:schemeClr val="dk1"/>
                </a:solidFill>
              </a:rPr>
              <a:t>RMSE:</a:t>
            </a:r>
            <a:r>
              <a:rPr lang="en" sz="1100" dirty="0">
                <a:solidFill>
                  <a:schemeClr val="dk1"/>
                </a:solidFill>
              </a:rPr>
              <a:t> 0.0851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 dirty="0">
                <a:solidFill>
                  <a:schemeClr val="dk1"/>
                </a:solidFill>
              </a:rPr>
              <a:t>R2-Score:</a:t>
            </a:r>
            <a:r>
              <a:rPr lang="en" sz="1100" dirty="0">
                <a:solidFill>
                  <a:schemeClr val="dk1"/>
                </a:solidFill>
              </a:rPr>
              <a:t> ~0.99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Zaključak:</a:t>
            </a:r>
            <a:r>
              <a:rPr lang="en" sz="1100" dirty="0">
                <a:solidFill>
                  <a:schemeClr val="dk1"/>
                </a:solidFill>
              </a:rPr>
              <a:t> Na</a:t>
            </a:r>
            <a:r>
              <a:rPr lang="sr-Latn-RS" sz="1100" dirty="0">
                <a:solidFill>
                  <a:schemeClr val="dk1"/>
                </a:solidFill>
              </a:rPr>
              <a:t>še stablo odlučivanja se pokazalo kao odlično, sa datim parametrima iz mreže. Uspelo je da razlikuje čak ~99.2% varijanse u našem skupu podataka. Takodje možemo prikazati i važnosti naših feature-a za naš DTR model.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3" name="Picture 2" descr="A computer screen shot of colorful text&#10;&#10;AI-generated content may be incorrect.">
            <a:extLst>
              <a:ext uri="{FF2B5EF4-FFF2-40B4-BE49-F238E27FC236}">
                <a16:creationId xmlns:a16="http://schemas.microsoft.com/office/drawing/2014/main" id="{C5C8C0C5-20B9-E6D5-9916-7F38884AD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876" y="0"/>
            <a:ext cx="3872124" cy="785169"/>
          </a:xfrm>
          <a:prstGeom prst="rect">
            <a:avLst/>
          </a:prstGeom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BE0D68E-EBA3-0F50-F9EA-CBDF009C7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943" y="1093576"/>
            <a:ext cx="3773990" cy="3801659"/>
          </a:xfrm>
          <a:prstGeom prst="rect">
            <a:avLst/>
          </a:prstGeom>
        </p:spPr>
      </p:pic>
      <p:pic>
        <p:nvPicPr>
          <p:cNvPr id="7" name="Picture 6" descr="A graph with a bar&#10;&#10;AI-generated content may be incorrect.">
            <a:extLst>
              <a:ext uri="{FF2B5EF4-FFF2-40B4-BE49-F238E27FC236}">
                <a16:creationId xmlns:a16="http://schemas.microsoft.com/office/drawing/2014/main" id="{E15EF701-F117-2F76-A0CA-73254699A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51" y="3895669"/>
            <a:ext cx="5194225" cy="114948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/>
        </p:nvSpPr>
        <p:spPr>
          <a:xfrm>
            <a:off x="53700" y="0"/>
            <a:ext cx="3852300" cy="48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Neuronske mreže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Cilj:</a:t>
            </a:r>
            <a:r>
              <a:rPr lang="en" sz="1100" dirty="0">
                <a:solidFill>
                  <a:schemeClr val="dk1"/>
                </a:solidFill>
              </a:rPr>
              <a:t> </a:t>
            </a:r>
            <a:r>
              <a:rPr lang="sr-Latn-RS" sz="1100" dirty="0">
                <a:solidFill>
                  <a:schemeClr val="dk1"/>
                </a:solidFill>
              </a:rPr>
              <a:t>Uspešno odredjivanje izlazne varijable na osnovu naših ulaznih parametara (features), tj. kontinualna vrednost u našem slučaju.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Metod:</a:t>
            </a:r>
            <a:endParaRPr sz="1100" b="1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 dirty="0" err="1">
                <a:solidFill>
                  <a:schemeClr val="dk1"/>
                </a:solidFill>
              </a:rPr>
              <a:t>Primenjen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GridCV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sa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razli</a:t>
            </a:r>
            <a:r>
              <a:rPr lang="sr-Latn-RS" sz="1100" dirty="0">
                <a:solidFill>
                  <a:schemeClr val="dk1"/>
                </a:solidFill>
              </a:rPr>
              <a:t>čitim parametrima</a:t>
            </a:r>
            <a:endParaRPr lang="en-US"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 dirty="0" err="1">
                <a:solidFill>
                  <a:schemeClr val="dk1"/>
                </a:solidFill>
              </a:rPr>
              <a:t>Pobuđivanje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sr-Latn-RS" sz="1100" dirty="0">
                <a:solidFill>
                  <a:schemeClr val="dk1"/>
                </a:solidFill>
              </a:rPr>
              <a:t>ReLU i Tanh aktivacionih funkcija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sr-Latn-RS" sz="1100" dirty="0">
                <a:solidFill>
                  <a:schemeClr val="dk1"/>
                </a:solidFill>
              </a:rPr>
              <a:t>Koriščćenje različite veličine slojeva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sr-Latn-RS" sz="1100" dirty="0">
                <a:solidFill>
                  <a:schemeClr val="dk1"/>
                </a:solidFill>
              </a:rPr>
              <a:t>Limitiranje stope učenaj (learning rate)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Rezultati </a:t>
            </a:r>
            <a:r>
              <a:rPr lang="sr-Latn-RS" sz="1100" b="1" dirty="0">
                <a:solidFill>
                  <a:schemeClr val="dk1"/>
                </a:solidFill>
              </a:rPr>
              <a:t>najboljeg</a:t>
            </a:r>
            <a:r>
              <a:rPr lang="en" sz="1100" b="1" dirty="0">
                <a:solidFill>
                  <a:schemeClr val="dk1"/>
                </a:solidFill>
              </a:rPr>
              <a:t> modela:</a:t>
            </a:r>
            <a:endParaRPr sz="1100" b="1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sr-Latn-RS" sz="1100" b="1" dirty="0">
                <a:solidFill>
                  <a:schemeClr val="dk1"/>
                </a:solidFill>
              </a:rPr>
              <a:t>R2 score</a:t>
            </a:r>
            <a:r>
              <a:rPr lang="en" sz="1100" b="1" dirty="0">
                <a:solidFill>
                  <a:schemeClr val="dk1"/>
                </a:solidFill>
              </a:rPr>
              <a:t>:</a:t>
            </a:r>
            <a:r>
              <a:rPr lang="en" sz="1100" dirty="0">
                <a:solidFill>
                  <a:schemeClr val="dk1"/>
                </a:solidFill>
              </a:rPr>
              <a:t> </a:t>
            </a:r>
            <a:r>
              <a:rPr lang="sr-Latn-RS" sz="1100" dirty="0">
                <a:solidFill>
                  <a:schemeClr val="dk1"/>
                </a:solidFill>
              </a:rPr>
              <a:t>0.9994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 dirty="0">
                <a:solidFill>
                  <a:schemeClr val="dk1"/>
                </a:solidFill>
              </a:rPr>
              <a:t>Gubitak</a:t>
            </a:r>
            <a:r>
              <a:rPr lang="en" sz="1100" dirty="0">
                <a:solidFill>
                  <a:schemeClr val="dk1"/>
                </a:solidFill>
              </a:rPr>
              <a:t> (Loss): </a:t>
            </a:r>
            <a:r>
              <a:rPr lang="en-US" sz="1100" dirty="0">
                <a:solidFill>
                  <a:schemeClr val="dk1"/>
                </a:solidFill>
              </a:rPr>
              <a:t>0.000817 – </a:t>
            </a:r>
            <a:r>
              <a:rPr lang="en-US" sz="1100" dirty="0" err="1">
                <a:solidFill>
                  <a:schemeClr val="dk1"/>
                </a:solidFill>
              </a:rPr>
              <a:t>ba</a:t>
            </a:r>
            <a:r>
              <a:rPr lang="sr-Latn-RS" sz="1100" dirty="0">
                <a:solidFill>
                  <a:schemeClr val="dk1"/>
                </a:solidFill>
              </a:rPr>
              <a:t>š mali, što je i dobro po nas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sr-Latn-RS" sz="1100" b="1" dirty="0">
                <a:solidFill>
                  <a:schemeClr val="dk1"/>
                </a:solidFill>
              </a:rPr>
              <a:t>MAE: </a:t>
            </a:r>
            <a:r>
              <a:rPr lang="sr-Latn-RS" sz="1100" dirty="0">
                <a:solidFill>
                  <a:schemeClr val="dk1"/>
                </a:solidFill>
              </a:rPr>
              <a:t>0.0144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sr-Latn-RS" sz="1100" b="1" dirty="0">
                <a:solidFill>
                  <a:schemeClr val="dk1"/>
                </a:solidFill>
              </a:rPr>
              <a:t>MSE:</a:t>
            </a:r>
            <a:r>
              <a:rPr lang="sr-Latn-RS" sz="1100" dirty="0">
                <a:solidFill>
                  <a:schemeClr val="dk1"/>
                </a:solidFill>
              </a:rPr>
              <a:t> 0.0005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sr-Latn-RS" sz="1100" b="1" dirty="0">
                <a:solidFill>
                  <a:schemeClr val="dk1"/>
                </a:solidFill>
              </a:rPr>
              <a:t>RMSE: </a:t>
            </a:r>
            <a:r>
              <a:rPr lang="sr-Latn-RS" sz="1100" dirty="0">
                <a:solidFill>
                  <a:schemeClr val="dk1"/>
                </a:solidFill>
              </a:rPr>
              <a:t>0.0234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3" name="Picture 2" descr="A graph of a model&#10;&#10;AI-generated content may be incorrect.">
            <a:extLst>
              <a:ext uri="{FF2B5EF4-FFF2-40B4-BE49-F238E27FC236}">
                <a16:creationId xmlns:a16="http://schemas.microsoft.com/office/drawing/2014/main" id="{A83E43E3-DFF9-212B-DE6B-EFAEA9D3B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000" y="146088"/>
            <a:ext cx="5232556" cy="2156394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DB17F2E-40FA-490C-1C33-05D6EDDF0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994" y="3602831"/>
            <a:ext cx="4930567" cy="139458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7">
          <a:extLst>
            <a:ext uri="{FF2B5EF4-FFF2-40B4-BE49-F238E27FC236}">
              <a16:creationId xmlns:a16="http://schemas.microsoft.com/office/drawing/2014/main" id="{FAFCA5CA-CC0A-46BB-09AE-94B126389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>
            <a:extLst>
              <a:ext uri="{FF2B5EF4-FFF2-40B4-BE49-F238E27FC236}">
                <a16:creationId xmlns:a16="http://schemas.microsoft.com/office/drawing/2014/main" id="{A5E4D784-92E6-6D00-1232-F4AE6790D3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Faza </a:t>
            </a:r>
            <a:r>
              <a:rPr lang="sr-Latn-RS" dirty="0"/>
              <a:t>7</a:t>
            </a:r>
            <a:endParaRPr dirty="0"/>
          </a:p>
        </p:txBody>
      </p:sp>
      <p:sp>
        <p:nvSpPr>
          <p:cNvPr id="219" name="Google Shape;219;p36">
            <a:extLst>
              <a:ext uri="{FF2B5EF4-FFF2-40B4-BE49-F238E27FC236}">
                <a16:creationId xmlns:a16="http://schemas.microsoft.com/office/drawing/2014/main" id="{7BE5B85D-55C8-C797-970C-16247D7739D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sr-Latn-RS" sz="1700" dirty="0">
                <a:latin typeface="Aptos"/>
                <a:ea typeface="Aptos"/>
                <a:cs typeface="Aptos"/>
                <a:sym typeface="Aptos"/>
              </a:rPr>
              <a:t>Vremenske serije</a:t>
            </a:r>
            <a:endParaRPr sz="2400" dirty="0"/>
          </a:p>
        </p:txBody>
      </p:sp>
      <p:sp>
        <p:nvSpPr>
          <p:cNvPr id="220" name="Google Shape;220;p36">
            <a:extLst>
              <a:ext uri="{FF2B5EF4-FFF2-40B4-BE49-F238E27FC236}">
                <a16:creationId xmlns:a16="http://schemas.microsoft.com/office/drawing/2014/main" id="{C363BAE5-1C89-22C9-5AC3-194EDECB4E6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9500" y="189200"/>
            <a:ext cx="3837000" cy="47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sr-Latn-RS" dirty="0"/>
              <a:t>Osnovne stavke o vremenskim serijama</a:t>
            </a:r>
          </a:p>
          <a:p>
            <a:pPr lvl="0">
              <a:spcBef>
                <a:spcPts val="800"/>
              </a:spcBef>
            </a:pPr>
            <a:r>
              <a:rPr lang="sr-Latn-RS" dirty="0"/>
              <a:t>SARIMAX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-Latn-RS" dirty="0"/>
              <a:t>LSTM – Long Short-Term memory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9911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4">
          <a:extLst>
            <a:ext uri="{FF2B5EF4-FFF2-40B4-BE49-F238E27FC236}">
              <a16:creationId xmlns:a16="http://schemas.microsoft.com/office/drawing/2014/main" id="{3E63C412-4532-6FE1-BE84-C024F967F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>
            <a:extLst>
              <a:ext uri="{FF2B5EF4-FFF2-40B4-BE49-F238E27FC236}">
                <a16:creationId xmlns:a16="http://schemas.microsoft.com/office/drawing/2014/main" id="{B943F1CE-F25B-1222-627B-D6C595F2504A}"/>
              </a:ext>
            </a:extLst>
          </p:cNvPr>
          <p:cNvSpPr txBox="1"/>
          <p:nvPr/>
        </p:nvSpPr>
        <p:spPr>
          <a:xfrm>
            <a:off x="0" y="0"/>
            <a:ext cx="4279825" cy="3690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r-Latn-RS" sz="1100" b="1" dirty="0">
                <a:solidFill>
                  <a:schemeClr val="dk1"/>
                </a:solidFill>
              </a:rPr>
              <a:t>SARIMAX</a:t>
            </a:r>
            <a:endParaRPr lang="en" sz="1100" b="1" dirty="0">
              <a:solidFill>
                <a:schemeClr val="dk1"/>
              </a:solidFill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100" b="1" dirty="0">
                <a:solidFill>
                  <a:schemeClr val="dk1"/>
                </a:solidFill>
              </a:rPr>
              <a:t>Cilj: </a:t>
            </a:r>
            <a:r>
              <a:rPr lang="sr-Latn-RS" sz="1100" dirty="0">
                <a:solidFill>
                  <a:schemeClr val="dk1"/>
                </a:solidFill>
              </a:rPr>
              <a:t>prognoziranje budućnosti, tj. nekog vremenskog intervala u budućnosti na osnovu podataka iz prošlosti (vremenske serije)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sr-Latn-RS" sz="1100" b="1" dirty="0">
                <a:solidFill>
                  <a:schemeClr val="dk1"/>
                </a:solidFill>
              </a:rPr>
              <a:t>Metode</a:t>
            </a:r>
            <a:r>
              <a:rPr lang="sr-Latn-RS" sz="1100" dirty="0">
                <a:solidFill>
                  <a:schemeClr val="dk1"/>
                </a:solidFill>
              </a:rPr>
              <a:t>: provere stacionarnosti vremenskih serija koristeći ADF test. Na osnovu ADF testa odredjujemo dalje korake (diferenciranje). Diferenciranje možemo raditi sa periodom ili bez njega, i ono služi za otklanjanje trendova. Za odredjivanje p, q, P i Q parametara koristimo autokorelacionu funkciju i parcijalnu autokorelacionu funkciju. Ali je ta metoda komplikovana za odredjivanje, pa nije lako zaključiti koji su to parametri. Za automatsko odredjivanje možemo koristiti auto_arima metod, kojem prosledjujemo maksimalne vrednosti za naše parametre, sezonalnost i naš trening skup.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sr-Latn-RS" sz="1100" b="1" dirty="0">
                <a:solidFill>
                  <a:schemeClr val="dk1"/>
                </a:solidFill>
              </a:rPr>
              <a:t>Rezultat: </a:t>
            </a:r>
            <a:r>
              <a:rPr lang="sr-Latn-RS" sz="1100" dirty="0">
                <a:solidFill>
                  <a:schemeClr val="dk1"/>
                </a:solidFill>
              </a:rPr>
              <a:t>Rezultat našeg modela se može vizuelno prikazati na plot-u. Takodje možemo i dobiti kratki opis našeg modela.</a:t>
            </a:r>
            <a:endParaRPr lang="sr-Latn-RS" sz="1100" b="1" dirty="0">
              <a:solidFill>
                <a:schemeClr val="dk1"/>
              </a:solidFill>
            </a:endParaRPr>
          </a:p>
          <a:p>
            <a:pPr marL="171450" lvl="1" indent="-1714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sr-Latn-RS" sz="1100" dirty="0">
              <a:solidFill>
                <a:schemeClr val="dk1"/>
              </a:solidFill>
            </a:endParaRPr>
          </a:p>
        </p:txBody>
      </p:sp>
      <p:pic>
        <p:nvPicPr>
          <p:cNvPr id="4" name="Picture 3" descr="A graph showing a graph&#10;&#10;AI-generated content may be incorrect.">
            <a:extLst>
              <a:ext uri="{FF2B5EF4-FFF2-40B4-BE49-F238E27FC236}">
                <a16:creationId xmlns:a16="http://schemas.microsoft.com/office/drawing/2014/main" id="{08B49E57-688E-50ED-7353-A01F445C0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915" y="86521"/>
            <a:ext cx="2587661" cy="1098360"/>
          </a:xfrm>
          <a:prstGeom prst="rect">
            <a:avLst/>
          </a:prstGeom>
        </p:spPr>
      </p:pic>
      <p:pic>
        <p:nvPicPr>
          <p:cNvPr id="8" name="Picture 7" descr="A graph of blue lines&#10;&#10;AI-generated content may be incorrect.">
            <a:extLst>
              <a:ext uri="{FF2B5EF4-FFF2-40B4-BE49-F238E27FC236}">
                <a16:creationId xmlns:a16="http://schemas.microsoft.com/office/drawing/2014/main" id="{B4C92FC1-A62B-AFA5-053E-D815ACBC5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058" y="140777"/>
            <a:ext cx="2173443" cy="1704255"/>
          </a:xfrm>
          <a:prstGeom prst="rect">
            <a:avLst/>
          </a:prstGeom>
        </p:spPr>
      </p:pic>
      <p:pic>
        <p:nvPicPr>
          <p:cNvPr id="11" name="Picture 10" descr="A graph of a number of points&#10;&#10;AI-generated content may be incorrect.">
            <a:extLst>
              <a:ext uri="{FF2B5EF4-FFF2-40B4-BE49-F238E27FC236}">
                <a16:creationId xmlns:a16="http://schemas.microsoft.com/office/drawing/2014/main" id="{86BD44A2-05E8-6464-99C6-874067C45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064"/>
            <a:ext cx="3938954" cy="1401297"/>
          </a:xfrm>
          <a:prstGeom prst="rect">
            <a:avLst/>
          </a:prstGeom>
        </p:spPr>
      </p:pic>
      <p:pic>
        <p:nvPicPr>
          <p:cNvPr id="13" name="Picture 12" descr="A graph showing a graph&#10;&#10;AI-generated content may be incorrect.">
            <a:extLst>
              <a:ext uri="{FF2B5EF4-FFF2-40B4-BE49-F238E27FC236}">
                <a16:creationId xmlns:a16="http://schemas.microsoft.com/office/drawing/2014/main" id="{DE31C065-3E37-B75A-F317-3CF90C5504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4702" y="2954115"/>
            <a:ext cx="4977799" cy="19318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7EC9144-24DE-7E70-37E1-FC615D9978D5}"/>
              </a:ext>
            </a:extLst>
          </p:cNvPr>
          <p:cNvSpPr txBox="1"/>
          <p:nvPr/>
        </p:nvSpPr>
        <p:spPr>
          <a:xfrm>
            <a:off x="4206916" y="2494310"/>
            <a:ext cx="4785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b="1" dirty="0"/>
              <a:t>VIZUELIZACIJA</a:t>
            </a:r>
            <a:r>
              <a:rPr lang="sr-Latn-RS" dirty="0"/>
              <a:t> – vidimo da je rezultat užasan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284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4">
          <a:extLst>
            <a:ext uri="{FF2B5EF4-FFF2-40B4-BE49-F238E27FC236}">
              <a16:creationId xmlns:a16="http://schemas.microsoft.com/office/drawing/2014/main" id="{642E68A3-7E7D-C8A2-EFAC-67E6A49F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>
            <a:extLst>
              <a:ext uri="{FF2B5EF4-FFF2-40B4-BE49-F238E27FC236}">
                <a16:creationId xmlns:a16="http://schemas.microsoft.com/office/drawing/2014/main" id="{6B42F4BA-C087-9F25-F83D-264F5DCA93F9}"/>
              </a:ext>
            </a:extLst>
          </p:cNvPr>
          <p:cNvSpPr txBox="1"/>
          <p:nvPr/>
        </p:nvSpPr>
        <p:spPr>
          <a:xfrm>
            <a:off x="0" y="0"/>
            <a:ext cx="9144000" cy="3013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r-Latn-RS" sz="1100" b="1" dirty="0">
                <a:solidFill>
                  <a:schemeClr val="dk1"/>
                </a:solidFill>
              </a:rPr>
              <a:t>LSTM (Long Short-Term Memory)</a:t>
            </a:r>
            <a:endParaRPr lang="en" sz="1100" b="1" dirty="0">
              <a:solidFill>
                <a:schemeClr val="dk1"/>
              </a:solidFill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1100" b="1" dirty="0">
                <a:solidFill>
                  <a:schemeClr val="dk1"/>
                </a:solidFill>
              </a:rPr>
              <a:t>Cilj: </a:t>
            </a:r>
            <a:r>
              <a:rPr lang="sr-Latn-RS" sz="1100" dirty="0">
                <a:solidFill>
                  <a:schemeClr val="dk1"/>
                </a:solidFill>
              </a:rPr>
              <a:t>prognoziranje budućnosti, tj. nekog vremenskog intervala u budućnosti na osnovu podataka iz prošlosti (vremenske serije)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sr-Latn-RS" sz="1100" b="1" dirty="0">
                <a:solidFill>
                  <a:schemeClr val="dk1"/>
                </a:solidFill>
              </a:rPr>
              <a:t>Metode: </a:t>
            </a:r>
            <a:r>
              <a:rPr lang="sr-Latn-RS" sz="1100" dirty="0">
                <a:solidFill>
                  <a:schemeClr val="dk1"/>
                </a:solidFill>
              </a:rPr>
              <a:t>Prvo moramo da izaberemo vremensku seriju, i s’ obzirom da je ovo RNN, moramo da ih i normalizujemo, kako bi ih koristili. Potom, treba odrediti dužinu za predikciju i uraditi podelu na trening, test i validacione vremenske serije. U ovom slučaju ja sam izabrao 70, 15, 15 kao podelu. Moramo sami formirati svoj LSTM model, koristeći slojeve: Input sloj, Hidden slojeve i Output sloj. Takodje je potrebno definisati i callback metode (EarlyStopping i ReduceLROnPlateau), oni služe za rano zaustavljanje modela ako nema napretka i smanjenje learning rate-a u slučaju da imamo grešku. Model se trenira po epohama i kada se dobijaju rezultati, koji su normalizovani, oni se vraćaju nazad (denormalizuju). I tako dobijamo rezultate praktično.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sr-Latn-RS" sz="1100" b="1" dirty="0">
                <a:solidFill>
                  <a:schemeClr val="dk1"/>
                </a:solidFill>
              </a:rPr>
              <a:t>Rezultat: </a:t>
            </a:r>
            <a:r>
              <a:rPr lang="sr-Latn-RS" sz="1100" dirty="0">
                <a:solidFill>
                  <a:schemeClr val="dk1"/>
                </a:solidFill>
              </a:rPr>
              <a:t>Pomoću metrika odredjujemo kvalitet našeg modela (R2 score, MAE, MSE i RMSE). U našem slučaju: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sr-Latn-RS" sz="1100" b="1" dirty="0">
                <a:solidFill>
                  <a:schemeClr val="dk1"/>
                </a:solidFill>
              </a:rPr>
              <a:t>R2 score: 0.9190, MAE: 1.0835, MSE: 3.7383 i RMSE: 1.9335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sr-Latn-RS" sz="1100" b="1" dirty="0">
                <a:solidFill>
                  <a:schemeClr val="dk1"/>
                </a:solidFill>
              </a:rPr>
              <a:t>Zaključak: </a:t>
            </a:r>
            <a:r>
              <a:rPr lang="sr-Latn-RS" sz="1100" dirty="0">
                <a:solidFill>
                  <a:schemeClr val="dk1"/>
                </a:solidFill>
              </a:rPr>
              <a:t>Model nije najbolji ali dobro opisuje varijansu</a:t>
            </a:r>
            <a:endParaRPr lang="sr-Latn-RS" sz="1100" b="1" dirty="0">
              <a:solidFill>
                <a:schemeClr val="dk1"/>
              </a:solidFill>
            </a:endParaRPr>
          </a:p>
        </p:txBody>
      </p:sp>
      <p:pic>
        <p:nvPicPr>
          <p:cNvPr id="3" name="Picture 2" descr="A graph showing a wave of data&#10;&#10;AI-generated content may be incorrect.">
            <a:extLst>
              <a:ext uri="{FF2B5EF4-FFF2-40B4-BE49-F238E27FC236}">
                <a16:creationId xmlns:a16="http://schemas.microsoft.com/office/drawing/2014/main" id="{8C95485B-FA9C-9A17-788C-7F0F82A0C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314" y="2975858"/>
            <a:ext cx="5490473" cy="211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3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8189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HVALA NA PAŽNJI!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</TotalTime>
  <Words>1609</Words>
  <Application>Microsoft Office PowerPoint</Application>
  <PresentationFormat>On-screen Show (16:9)</PresentationFormat>
  <Paragraphs>155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Aptos</vt:lpstr>
      <vt:lpstr>Old Standard TT</vt:lpstr>
      <vt:lpstr>Paperback</vt:lpstr>
      <vt:lpstr>Osnovi nauke o podacima projekat</vt:lpstr>
      <vt:lpstr>DATA SET: AirQuality.csv (Kaggle)  Ovaj skup podataka pruža uvid u razne parametre pomoću koji se odredjuje zagadjenost vazduha u periodu od 2004. do 2005. godine u jednom Italijanskom gradu.</vt:lpstr>
      <vt:lpstr>Prikaz podataka </vt:lpstr>
      <vt:lpstr>Kratka analiza podataka</vt:lpstr>
      <vt:lpstr>Kratak prikaz tipova naših kolona</vt:lpstr>
      <vt:lpstr>Faza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Faza 3</vt:lpstr>
      <vt:lpstr>EDA i priprema podataka</vt:lpstr>
      <vt:lpstr>PowerPoint Presentation</vt:lpstr>
      <vt:lpstr>Faza 4</vt:lpstr>
      <vt:lpstr>PowerPoint Presentation</vt:lpstr>
      <vt:lpstr>Rezultati</vt:lpstr>
      <vt:lpstr>Intervali poverenja – opseg u kojem očekujemo da se nadje srednja vrednost kolone, sa odredjenim nivoom sigurnosti</vt:lpstr>
      <vt:lpstr>Faza 5</vt:lpstr>
      <vt:lpstr>PowerPoint Presentation</vt:lpstr>
      <vt:lpstr>PowerPoint Presentation</vt:lpstr>
      <vt:lpstr>Faza 6</vt:lpstr>
      <vt:lpstr>PowerPoint Presentation</vt:lpstr>
      <vt:lpstr>PowerPoint Presentation</vt:lpstr>
      <vt:lpstr>PowerPoint Presentation</vt:lpstr>
      <vt:lpstr>Faza 7</vt:lpstr>
      <vt:lpstr>PowerPoint Presentation</vt:lpstr>
      <vt:lpstr>PowerPoint Presentation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Mihailo Božinović</dc:creator>
  <cp:lastModifiedBy>Mihailo Božinović</cp:lastModifiedBy>
  <cp:revision>34</cp:revision>
  <dcterms:modified xsi:type="dcterms:W3CDTF">2025-12-27T12:08:45Z</dcterms:modified>
</cp:coreProperties>
</file>